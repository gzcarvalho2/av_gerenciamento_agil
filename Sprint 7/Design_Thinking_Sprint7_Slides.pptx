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8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4A86C5"/>
                </a:solidFill>
                <a:latin typeface="Calibri"/>
              </a:rPr>
              <a:t>TEMA 1 • GERENCIAMENTO ÁGIL DE PROJETOS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830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000" b="1" i="0">
                <a:solidFill>
                  <a:srgbClr val="FFFFFF"/>
                </a:solidFill>
                <a:latin typeface="Cambria"/>
              </a:rPr>
              <a:t>Design Thinking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8892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DCE9F6"/>
                </a:solidFill>
                <a:latin typeface="Cambria"/>
              </a:rPr>
              <a:t>Centrado no usuário, do problema à solução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474720"/>
            <a:ext cx="2011680" cy="19050"/>
          </a:xfrm>
          <a:prstGeom prst="rect">
            <a:avLst/>
          </a:prstGeom>
          <a:solidFill>
            <a:srgbClr val="4A8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DCE9F6"/>
                </a:solidFill>
                <a:latin typeface="Calibri"/>
              </a:rPr>
              <a:t>Análise e Desenvolvimento de Sistemas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A7585"/>
                </a:solidFill>
                <a:latin typeface="Calibri"/>
              </a:rPr>
              <a:t>Gabriel Henrique  •  Clara Catarina  •  Ruan Cabral  •  Lucas Nunes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F5C99"/>
                </a:solidFill>
                <a:latin typeface="Calibri"/>
              </a:rPr>
              <a:t>FUNDAMENTOS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2330"/>
                </a:solidFill>
                <a:latin typeface="Cambria"/>
              </a:rPr>
              <a:t>As cinco etapas do Design Thinking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1572768" cy="260604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5256" y="1783080"/>
            <a:ext cx="676656" cy="676656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mpat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92" y="1918716"/>
            <a:ext cx="405384" cy="405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2596896"/>
            <a:ext cx="1389888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330"/>
                </a:solidFill>
                <a:latin typeface="Cambria"/>
              </a:rPr>
              <a:t>Empatia</a:t>
            </a:r>
          </a:p>
          <a:p>
            <a:pPr algn="ctr">
              <a:spcBef>
                <a:spcPts val="600"/>
              </a:spcBef>
            </a:pPr>
            <a:r>
              <a:rPr sz="1050" b="0" i="0">
                <a:solidFill>
                  <a:srgbClr val="33414F"/>
                </a:solidFill>
                <a:latin typeface="Calibri"/>
              </a:rPr>
              <a:t>Imersão no contexto do usuário via entrevistas e observação.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21408" y="1554480"/>
            <a:ext cx="1572768" cy="260604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69464" y="1783080"/>
            <a:ext cx="676656" cy="676656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efini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100" y="1918716"/>
            <a:ext cx="405384" cy="4053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212848" y="2596896"/>
            <a:ext cx="1389888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330"/>
                </a:solidFill>
                <a:latin typeface="Cambria"/>
              </a:rPr>
              <a:t>Definição</a:t>
            </a:r>
          </a:p>
          <a:p>
            <a:pPr algn="ctr">
              <a:spcBef>
                <a:spcPts val="600"/>
              </a:spcBef>
            </a:pPr>
            <a:r>
              <a:rPr sz="1050" b="0" i="0">
                <a:solidFill>
                  <a:srgbClr val="33414F"/>
                </a:solidFill>
                <a:latin typeface="Calibri"/>
              </a:rPr>
              <a:t>Síntese das descobertas em um enunciado claro do problema.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85616" y="1554480"/>
            <a:ext cx="1572768" cy="260604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33672" y="1783080"/>
            <a:ext cx="676656" cy="676656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deaca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9308" y="1918716"/>
            <a:ext cx="405384" cy="4053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877056" y="2596896"/>
            <a:ext cx="1389888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330"/>
                </a:solidFill>
                <a:latin typeface="Cambria"/>
              </a:rPr>
              <a:t>Ideação</a:t>
            </a:r>
          </a:p>
          <a:p>
            <a:pPr algn="ctr">
              <a:spcBef>
                <a:spcPts val="600"/>
              </a:spcBef>
            </a:pPr>
            <a:r>
              <a:rPr sz="1050" b="0" i="0">
                <a:solidFill>
                  <a:srgbClr val="33414F"/>
                </a:solidFill>
                <a:latin typeface="Calibri"/>
              </a:rPr>
              <a:t>Geração ampla de ideias, sem julgamento prévio.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9824" y="1554480"/>
            <a:ext cx="1572768" cy="260604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97880" y="1783080"/>
            <a:ext cx="676656" cy="676656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rototipaca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3516" y="1918716"/>
            <a:ext cx="405384" cy="4053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541264" y="2596896"/>
            <a:ext cx="1389888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330"/>
                </a:solidFill>
                <a:latin typeface="Cambria"/>
              </a:rPr>
              <a:t>Prototipação</a:t>
            </a:r>
          </a:p>
          <a:p>
            <a:pPr algn="ctr">
              <a:spcBef>
                <a:spcPts val="600"/>
              </a:spcBef>
            </a:pPr>
            <a:r>
              <a:rPr sz="1050" b="0" i="0">
                <a:solidFill>
                  <a:srgbClr val="33414F"/>
                </a:solidFill>
                <a:latin typeface="Calibri"/>
              </a:rPr>
              <a:t>Versões simples e baratas para materializar a ideia.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14032" y="1554480"/>
            <a:ext cx="1572768" cy="260604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62088" y="1783080"/>
            <a:ext cx="676656" cy="676656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tes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7724" y="1918716"/>
            <a:ext cx="405384" cy="40538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205472" y="2596896"/>
            <a:ext cx="1389888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330"/>
                </a:solidFill>
                <a:latin typeface="Cambria"/>
              </a:rPr>
              <a:t>Teste</a:t>
            </a:r>
          </a:p>
          <a:p>
            <a:pPr algn="ctr">
              <a:spcBef>
                <a:spcPts val="600"/>
              </a:spcBef>
            </a:pPr>
            <a:r>
              <a:rPr sz="1050" b="0" i="0">
                <a:solidFill>
                  <a:srgbClr val="33414F"/>
                </a:solidFill>
                <a:latin typeface="Calibri"/>
              </a:rPr>
              <a:t>Validação do protótipo com usuários reais.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A7585"/>
                </a:solidFill>
                <a:latin typeface="Calibri"/>
              </a:rPr>
              <a:t>Gerenciamento Ágil de Projetos</a:t>
            </a:r>
            <a:r>
              <a:rPr sz="900" b="0" i="0">
                <a:solidFill>
                  <a:srgbClr val="D7DEEA"/>
                </a:solidFill>
                <a:latin typeface="Calibri"/>
              </a:rPr>
              <a:t>   •   </a:t>
            </a:r>
            <a:r>
              <a:rPr sz="900" b="1" i="0">
                <a:solidFill>
                  <a:srgbClr val="1F5C99"/>
                </a:solidFill>
                <a:latin typeface="Calibri"/>
              </a:rPr>
              <a:t>Design Thinking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8280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585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F5C99"/>
                </a:solidFill>
                <a:latin typeface="Calibri"/>
              </a:rPr>
              <a:t>FUNDAMENTOS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2330"/>
                </a:solidFill>
                <a:latin typeface="Cambria"/>
              </a:rPr>
              <a:t>As três lentes da inovação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2682240" cy="260604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59992" y="1783080"/>
            <a:ext cx="676656" cy="676656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mpat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628" y="1918716"/>
            <a:ext cx="405384" cy="405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2596896"/>
            <a:ext cx="2499360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330"/>
                </a:solidFill>
                <a:latin typeface="Cambria"/>
              </a:rPr>
              <a:t>Desejabilidade</a:t>
            </a:r>
          </a:p>
          <a:p>
            <a:pPr algn="ctr">
              <a:spcBef>
                <a:spcPts val="600"/>
              </a:spcBef>
            </a:pPr>
            <a:r>
              <a:rPr sz="1050" b="0" i="0">
                <a:solidFill>
                  <a:srgbClr val="33414F"/>
                </a:solidFill>
                <a:latin typeface="Calibri"/>
              </a:rPr>
              <a:t>O que o ser humano quer e precisa de fato.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30880" y="1554480"/>
            <a:ext cx="2682240" cy="260604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33672" y="1783080"/>
            <a:ext cx="676656" cy="676656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iabilidade_tecni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9308" y="1918716"/>
            <a:ext cx="405384" cy="4053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22320" y="2596896"/>
            <a:ext cx="2499360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330"/>
                </a:solidFill>
                <a:latin typeface="Cambria"/>
              </a:rPr>
              <a:t>Viabilidade técnica</a:t>
            </a:r>
          </a:p>
          <a:p>
            <a:pPr algn="ctr">
              <a:spcBef>
                <a:spcPts val="600"/>
              </a:spcBef>
            </a:pPr>
            <a:r>
              <a:rPr sz="1050" b="0" i="0">
                <a:solidFill>
                  <a:srgbClr val="33414F"/>
                </a:solidFill>
                <a:latin typeface="Calibri"/>
              </a:rPr>
              <a:t>O que é possível construir com a tecnologia disponível.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04560" y="1554480"/>
            <a:ext cx="2682240" cy="260604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07352" y="1783080"/>
            <a:ext cx="676656" cy="676656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raticabilidade_negoc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2988" y="1918716"/>
            <a:ext cx="405384" cy="4053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0" y="2596896"/>
            <a:ext cx="2499360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330"/>
                </a:solidFill>
                <a:latin typeface="Cambria"/>
              </a:rPr>
              <a:t>Praticabilidade de negócio</a:t>
            </a:r>
          </a:p>
          <a:p>
            <a:pPr algn="ctr">
              <a:spcBef>
                <a:spcPts val="600"/>
              </a:spcBef>
            </a:pPr>
            <a:r>
              <a:rPr sz="1050" b="0" i="0">
                <a:solidFill>
                  <a:srgbClr val="33414F"/>
                </a:solidFill>
                <a:latin typeface="Calibri"/>
              </a:rPr>
              <a:t>O que faz sentido sustentar como produto ou serviço.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A7585"/>
                </a:solidFill>
                <a:latin typeface="Calibri"/>
              </a:rPr>
              <a:t>A inovação nasce na interseção das três — não de apenas uma delas.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A7585"/>
                </a:solidFill>
                <a:latin typeface="Calibri"/>
              </a:rPr>
              <a:t>Gerenciamento Ágil de Projetos</a:t>
            </a:r>
            <a:r>
              <a:rPr sz="900" b="0" i="0">
                <a:solidFill>
                  <a:srgbClr val="D7DEEA"/>
                </a:solidFill>
                <a:latin typeface="Calibri"/>
              </a:rPr>
              <a:t>   •   </a:t>
            </a:r>
            <a:r>
              <a:rPr sz="900" b="1" i="0">
                <a:solidFill>
                  <a:srgbClr val="1F5C99"/>
                </a:solidFill>
                <a:latin typeface="Calibri"/>
              </a:rPr>
              <a:t>Design Thinking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48280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585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F5C99"/>
                </a:solidFill>
                <a:latin typeface="Calibri"/>
              </a:rPr>
              <a:t>APLICAÇÃO PRÁTICA • PROJETO SCRUNIC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2330"/>
                </a:solidFill>
                <a:latin typeface="Cambria"/>
              </a:rPr>
              <a:t>Do problema real ao protótipo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>
                <a:solidFill>
                  <a:srgbClr val="1B2330"/>
                </a:solidFill>
                <a:latin typeface="Cambria"/>
              </a:rPr>
              <a:t>Empatia.  </a:t>
            </a:r>
            <a:r>
              <a:rPr sz="1300" b="0" i="0">
                <a:solidFill>
                  <a:srgbClr val="33414F"/>
                </a:solidFill>
                <a:latin typeface="Calibri"/>
              </a:rPr>
              <a:t> Entrevistas revelaram que o grupo não sabia, a qualquer momento, o que estava pendente, em andamento ou concluído.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1B2330"/>
                </a:solidFill>
                <a:latin typeface="Cambria"/>
              </a:rPr>
              <a:t>Definição.  </a:t>
            </a:r>
            <a:r>
              <a:rPr sz="1300" b="0" i="0">
                <a:solidFill>
                  <a:srgbClr val="33414F"/>
                </a:solidFill>
                <a:latin typeface="Calibri"/>
              </a:rPr>
              <a:t> "Como podemos dar ao grupo uma visão única e atualizada do próprio trabalho?"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1B2330"/>
                </a:solidFill>
                <a:latin typeface="Cambria"/>
              </a:rPr>
              <a:t>Ideação → Protótipo.  </a:t>
            </a:r>
            <a:r>
              <a:rPr sz="1300" b="0" i="0">
                <a:solidFill>
                  <a:srgbClr val="33414F"/>
                </a:solidFill>
                <a:latin typeface="Calibri"/>
              </a:rPr>
              <a:t> Entre várias ideias, um quadro visual estilo Kanban venceu por ser o mais simples de entender de relance — esboçado em wireframe de baixa fidelidade.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1B2330"/>
                </a:solidFill>
                <a:latin typeface="Cambria"/>
              </a:rPr>
              <a:t>Teste.  </a:t>
            </a:r>
            <a:r>
              <a:rPr sz="1300" b="0" i="0">
                <a:solidFill>
                  <a:srgbClr val="33414F"/>
                </a:solidFill>
                <a:latin typeface="Calibri"/>
              </a:rPr>
              <a:t> Colegas fora do time pediram um contador de tarefas por coluna e um filtro por responsável, incorporados antes da primeira linha de código em React.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A7585"/>
                </a:solidFill>
                <a:latin typeface="Calibri"/>
              </a:rPr>
              <a:t>Gerenciamento Ágil de Projetos</a:t>
            </a:r>
            <a:r>
              <a:rPr sz="900" b="0" i="0">
                <a:solidFill>
                  <a:srgbClr val="D7DEEA"/>
                </a:solidFill>
                <a:latin typeface="Calibri"/>
              </a:rPr>
              <a:t>   •   </a:t>
            </a:r>
            <a:r>
              <a:rPr sz="900" b="1" i="0">
                <a:solidFill>
                  <a:srgbClr val="1F5C99"/>
                </a:solidFill>
                <a:latin typeface="Calibri"/>
              </a:rPr>
              <a:t>Design Thinking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48280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585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F5C99"/>
                </a:solidFill>
                <a:latin typeface="Calibri"/>
              </a:rPr>
              <a:t>ANÁLISE CRÍTICA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2330"/>
                </a:solidFill>
                <a:latin typeface="Cambria"/>
              </a:rPr>
              <a:t>Vantagens e limitações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>
                <a:solidFill>
                  <a:srgbClr val="1B2330"/>
                </a:solidFill>
                <a:latin typeface="Cambria"/>
              </a:rPr>
              <a:t>Vantagens.  </a:t>
            </a:r>
            <a:r>
              <a:rPr sz="1300" b="0" i="0">
                <a:solidFill>
                  <a:srgbClr val="33414F"/>
                </a:solidFill>
                <a:latin typeface="Calibri"/>
              </a:rPr>
              <a:t> Foco no problema certo, redução de risco antes de codificar, linguagem comum com o usuário e estímulo à criatividade na ideação.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1B2330"/>
                </a:solidFill>
                <a:latin typeface="Cambria"/>
              </a:rPr>
              <a:t>Limitações.  </a:t>
            </a:r>
            <a:r>
              <a:rPr sz="1300" b="0" i="0">
                <a:solidFill>
                  <a:srgbClr val="33414F"/>
                </a:solidFill>
                <a:latin typeface="Calibri"/>
              </a:rPr>
              <a:t> Não prescreve entrega, depende de acesso a usuários reais e seus resultados são difíceis de mensurar em números.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1B2330"/>
                </a:solidFill>
                <a:latin typeface="Cambria"/>
              </a:rPr>
              <a:t>Comparado ao Scrum.  </a:t>
            </a:r>
            <a:r>
              <a:rPr sz="1300" b="0" i="0">
                <a:solidFill>
                  <a:srgbClr val="33414F"/>
                </a:solidFill>
                <a:latin typeface="Calibri"/>
              </a:rPr>
              <a:t> O Design Thinking garante que o time resolve o problema certo; o Scrum garante que a solução é entregue de forma organizada e previsível.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A7585"/>
                </a:solidFill>
                <a:latin typeface="Calibri"/>
              </a:rPr>
              <a:t>Gerenciamento Ágil de Projetos</a:t>
            </a:r>
            <a:r>
              <a:rPr sz="900" b="0" i="0">
                <a:solidFill>
                  <a:srgbClr val="D7DEEA"/>
                </a:solidFill>
                <a:latin typeface="Calibri"/>
              </a:rPr>
              <a:t>   •   </a:t>
            </a:r>
            <a:r>
              <a:rPr sz="900" b="1" i="0">
                <a:solidFill>
                  <a:srgbClr val="1F5C99"/>
                </a:solidFill>
                <a:latin typeface="Calibri"/>
              </a:rPr>
              <a:t>Design Thinking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48280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585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F5C99"/>
                </a:solidFill>
                <a:latin typeface="Calibri"/>
              </a:rPr>
              <a:t>INTEGRAÇÃO COM O ECOSSISTEMA ÁGIL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2330"/>
                </a:solidFill>
                <a:latin typeface="Cambria"/>
              </a:rPr>
              <a:t>Das etapas do DT ao backlog ágil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>
                <a:solidFill>
                  <a:srgbClr val="1B2330"/>
                </a:solidFill>
                <a:latin typeface="Cambria"/>
              </a:rPr>
              <a:t>Empatia + Definição  </a:t>
            </a:r>
            <a:r>
              <a:rPr sz="1300" b="0" i="0">
                <a:solidFill>
                  <a:srgbClr val="33414F"/>
                </a:solidFill>
                <a:latin typeface="Calibri"/>
              </a:rPr>
              <a:t> → viram épicos e temas priorizados pelo Product Owner.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1B2330"/>
                </a:solidFill>
                <a:latin typeface="Cambria"/>
              </a:rPr>
              <a:t>Ideação + Prototipação  </a:t>
            </a:r>
            <a:r>
              <a:rPr sz="1300" b="0" i="0">
                <a:solidFill>
                  <a:srgbClr val="33414F"/>
                </a:solidFill>
                <a:latin typeface="Calibri"/>
              </a:rPr>
              <a:t> → viram candidatas a histórias de usuário, refinadas em Sprint Planning ou detalhadas antes da coluna "A Fazer" do Kanban.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1B2330"/>
                </a:solidFill>
                <a:latin typeface="Cambria"/>
              </a:rPr>
              <a:t>Teste  </a:t>
            </a:r>
            <a:r>
              <a:rPr sz="1300" b="0" i="0">
                <a:solidFill>
                  <a:srgbClr val="33414F"/>
                </a:solidFill>
                <a:latin typeface="Calibri"/>
              </a:rPr>
              <a:t> → vira critério de aceite, verificado na Sprint Review ou na coluna "Testes" do quadro.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1B2330"/>
                </a:solidFill>
                <a:latin typeface="Cambria"/>
              </a:rPr>
              <a:t>No Scrunic:  </a:t>
            </a:r>
            <a:r>
              <a:rPr sz="1300" b="0" i="0">
                <a:solidFill>
                  <a:srgbClr val="33414F"/>
                </a:solidFill>
                <a:latin typeface="Calibri"/>
              </a:rPr>
              <a:t> a descoberta de falta de visibilidade virou o épico "Visualização de tarefas", refinado em histórias que entraram direto na fila do Kanban do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A7585"/>
                </a:solidFill>
                <a:latin typeface="Calibri"/>
              </a:rPr>
              <a:t>Gerenciamento Ágil de Projetos</a:t>
            </a:r>
            <a:r>
              <a:rPr sz="900" b="0" i="0">
                <a:solidFill>
                  <a:srgbClr val="D7DEEA"/>
                </a:solidFill>
                <a:latin typeface="Calibri"/>
              </a:rPr>
              <a:t>   •   </a:t>
            </a:r>
            <a:r>
              <a:rPr sz="900" b="1" i="0">
                <a:solidFill>
                  <a:srgbClr val="1F5C99"/>
                </a:solidFill>
                <a:latin typeface="Calibri"/>
              </a:rPr>
              <a:t>Design Thinking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48280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585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8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002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4A86C5"/>
                </a:solidFill>
                <a:latin typeface="Calibri"/>
              </a:rPr>
              <a:t>Em resumo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82296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FFFFFF"/>
                </a:solidFill>
                <a:latin typeface="Cambria"/>
              </a:rPr>
              <a:t>O Design Thinking garante que o time está construindo a solução certa — e, somado a Scrum ou Kanban, completa o ciclo da descoberta à entrega.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DCE9F6"/>
                </a:solidFill>
                <a:latin typeface="Calibri"/>
              </a:rPr>
              <a:t>Obrigado!  •  ADS — Gerenciamento Ágil de Projetos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48280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585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