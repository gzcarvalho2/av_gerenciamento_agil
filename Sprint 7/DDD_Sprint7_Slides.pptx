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8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4A86C5"/>
                </a:solidFill>
                <a:latin typeface="Calibri"/>
              </a:rPr>
              <a:t>TEMA 5 • GERENCIAMENTO ÁGIL DE PROJETOS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8308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000" b="1" i="0">
                <a:solidFill>
                  <a:srgbClr val="FFFFFF"/>
                </a:solidFill>
                <a:latin typeface="Cambria"/>
              </a:rPr>
              <a:t>DDD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78892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i="0">
                <a:solidFill>
                  <a:srgbClr val="DCE9F6"/>
                </a:solidFill>
                <a:latin typeface="Cambria"/>
              </a:rPr>
              <a:t>Entendendo o domínio do problema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3474720"/>
            <a:ext cx="2011680" cy="19050"/>
          </a:xfrm>
          <a:prstGeom prst="rect">
            <a:avLst/>
          </a:prstGeom>
          <a:solidFill>
            <a:srgbClr val="4A8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DCE9F6"/>
                </a:solidFill>
                <a:latin typeface="Calibri"/>
              </a:rPr>
              <a:t>Análise e Desenvolvimento de Sistemas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A7585"/>
                </a:solidFill>
                <a:latin typeface="Calibri"/>
              </a:rPr>
              <a:t>Gabriel Henrique  •  Clara Catarina  •  Ruan Cabral  •  Lucas Nunes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F5C99"/>
                </a:solidFill>
                <a:latin typeface="Calibri"/>
              </a:rPr>
              <a:t>FUNDAMENTOS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B2330"/>
                </a:solidFill>
                <a:latin typeface="Cambria"/>
              </a:rPr>
              <a:t>Conceitos estratégicos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2682240" cy="2606040"/>
          </a:xfrm>
          <a:prstGeom prst="roundRect">
            <a:avLst/>
          </a:prstGeom>
          <a:solidFill>
            <a:srgbClr val="F7FAFD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59992" y="1783080"/>
            <a:ext cx="676656" cy="676656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omin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628" y="1918716"/>
            <a:ext cx="405384" cy="4053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2596896"/>
            <a:ext cx="2499360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330"/>
                </a:solidFill>
                <a:latin typeface="Cambria"/>
              </a:rPr>
              <a:t>Domínio</a:t>
            </a:r>
          </a:p>
          <a:p>
            <a:pPr algn="ctr">
              <a:spcBef>
                <a:spcPts val="600"/>
              </a:spcBef>
            </a:pPr>
            <a:r>
              <a:rPr sz="1050" b="0" i="0">
                <a:solidFill>
                  <a:srgbClr val="33414F"/>
                </a:solidFill>
                <a:latin typeface="Calibri"/>
              </a:rPr>
              <a:t>A razão de ser do software: o problema real de negócio.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30880" y="1554480"/>
            <a:ext cx="2682240" cy="2606040"/>
          </a:xfrm>
          <a:prstGeom prst="roundRect">
            <a:avLst/>
          </a:prstGeom>
          <a:solidFill>
            <a:srgbClr val="F7FAFD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33672" y="1783080"/>
            <a:ext cx="676656" cy="676656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inguagem_ubiqu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9308" y="1918716"/>
            <a:ext cx="405384" cy="4053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322320" y="2596896"/>
            <a:ext cx="2499360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330"/>
                </a:solidFill>
                <a:latin typeface="Cambria"/>
              </a:rPr>
              <a:t>Linguagem Ubíqua</a:t>
            </a:r>
          </a:p>
          <a:p>
            <a:pPr algn="ctr">
              <a:spcBef>
                <a:spcPts val="600"/>
              </a:spcBef>
            </a:pPr>
            <a:r>
              <a:rPr sz="1050" b="0" i="0">
                <a:solidFill>
                  <a:srgbClr val="33414F"/>
                </a:solidFill>
                <a:latin typeface="Calibri"/>
              </a:rPr>
              <a:t>Vocabulário único entre negócio e código.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04560" y="1554480"/>
            <a:ext cx="2682240" cy="2606040"/>
          </a:xfrm>
          <a:prstGeom prst="roundRect">
            <a:avLst/>
          </a:prstGeom>
          <a:solidFill>
            <a:srgbClr val="F7FAFD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07352" y="1783080"/>
            <a:ext cx="676656" cy="676656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bounded_contex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2988" y="1918716"/>
            <a:ext cx="405384" cy="4053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0" y="2596896"/>
            <a:ext cx="2499360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330"/>
                </a:solidFill>
                <a:latin typeface="Cambria"/>
              </a:rPr>
              <a:t>Bounded Context</a:t>
            </a:r>
          </a:p>
          <a:p>
            <a:pPr algn="ctr">
              <a:spcBef>
                <a:spcPts val="600"/>
              </a:spcBef>
            </a:pPr>
            <a:r>
              <a:rPr sz="1050" b="0" i="0">
                <a:solidFill>
                  <a:srgbClr val="33414F"/>
                </a:solidFill>
                <a:latin typeface="Calibri"/>
              </a:rPr>
              <a:t>Fronteira lógica onde um modelo se aplica.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A7585"/>
                </a:solidFill>
                <a:latin typeface="Calibri"/>
              </a:rPr>
              <a:t>Gerenciamento Ágil de Projetos</a:t>
            </a:r>
            <a:r>
              <a:rPr sz="900" b="0" i="0">
                <a:solidFill>
                  <a:srgbClr val="D7DEEA"/>
                </a:solidFill>
                <a:latin typeface="Calibri"/>
              </a:rPr>
              <a:t>   •   </a:t>
            </a:r>
            <a:r>
              <a:rPr sz="900" b="1" i="0">
                <a:solidFill>
                  <a:srgbClr val="1F5C99"/>
                </a:solidFill>
                <a:latin typeface="Calibri"/>
              </a:rPr>
              <a:t>DDD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48280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585"/>
                </a:solidFill>
                <a:latin typeface="Calibr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F5C99"/>
                </a:solidFill>
                <a:latin typeface="Calibri"/>
              </a:rPr>
              <a:t>FUNDAMENTOS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B2330"/>
                </a:solidFill>
                <a:latin typeface="Cambria"/>
              </a:rPr>
              <a:t>Padrões táticos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1988820" cy="2606040"/>
          </a:xfrm>
          <a:prstGeom prst="roundRect">
            <a:avLst/>
          </a:prstGeom>
          <a:solidFill>
            <a:srgbClr val="F7FAFD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3282" y="1783080"/>
            <a:ext cx="676656" cy="676656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ntid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918" y="1918716"/>
            <a:ext cx="405384" cy="4053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2596896"/>
            <a:ext cx="1805940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330"/>
                </a:solidFill>
                <a:latin typeface="Cambria"/>
              </a:rPr>
              <a:t>Entidade</a:t>
            </a:r>
          </a:p>
          <a:p>
            <a:pPr algn="ctr">
              <a:spcBef>
                <a:spcPts val="600"/>
              </a:spcBef>
            </a:pPr>
            <a:r>
              <a:rPr sz="1050" b="0" i="0">
                <a:solidFill>
                  <a:srgbClr val="33414F"/>
                </a:solidFill>
                <a:latin typeface="Calibri"/>
              </a:rPr>
              <a:t>Tem identidade única e ciclo de vida.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37460" y="1554480"/>
            <a:ext cx="1988820" cy="2606040"/>
          </a:xfrm>
          <a:prstGeom prst="roundRect">
            <a:avLst/>
          </a:prstGeom>
          <a:solidFill>
            <a:srgbClr val="F7FAFD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193542" y="1783080"/>
            <a:ext cx="676656" cy="676656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value_obj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9178" y="1918716"/>
            <a:ext cx="405384" cy="4053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628900" y="2596896"/>
            <a:ext cx="1805940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330"/>
                </a:solidFill>
                <a:latin typeface="Cambria"/>
              </a:rPr>
              <a:t>Value Object</a:t>
            </a:r>
          </a:p>
          <a:p>
            <a:pPr algn="ctr">
              <a:spcBef>
                <a:spcPts val="600"/>
              </a:spcBef>
            </a:pPr>
            <a:r>
              <a:rPr sz="1050" b="0" i="0">
                <a:solidFill>
                  <a:srgbClr val="33414F"/>
                </a:solidFill>
                <a:latin typeface="Calibri"/>
              </a:rPr>
              <a:t>Sem identidade; descreve uma característica.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1554480"/>
            <a:ext cx="1988820" cy="2606040"/>
          </a:xfrm>
          <a:prstGeom prst="roundRect">
            <a:avLst/>
          </a:prstGeom>
          <a:solidFill>
            <a:srgbClr val="F7FAFD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273802" y="1783080"/>
            <a:ext cx="676656" cy="676656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gregad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9438" y="1918716"/>
            <a:ext cx="405384" cy="4053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09160" y="2596896"/>
            <a:ext cx="1805940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330"/>
                </a:solidFill>
                <a:latin typeface="Cambria"/>
              </a:rPr>
              <a:t>Agregado</a:t>
            </a:r>
          </a:p>
          <a:p>
            <a:pPr algn="ctr">
              <a:spcBef>
                <a:spcPts val="600"/>
              </a:spcBef>
            </a:pPr>
            <a:r>
              <a:rPr sz="1050" b="0" i="0">
                <a:solidFill>
                  <a:srgbClr val="33414F"/>
                </a:solidFill>
                <a:latin typeface="Calibri"/>
              </a:rPr>
              <a:t>Fronteira de consistência com uma Raiz.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97980" y="1554480"/>
            <a:ext cx="1988820" cy="2606040"/>
          </a:xfrm>
          <a:prstGeom prst="roundRect">
            <a:avLst/>
          </a:prstGeom>
          <a:solidFill>
            <a:srgbClr val="F7FAFD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54062" y="1783080"/>
            <a:ext cx="676656" cy="676656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repositori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9698" y="1918716"/>
            <a:ext cx="405384" cy="40538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789420" y="2596896"/>
            <a:ext cx="1805940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330"/>
                </a:solidFill>
                <a:latin typeface="Cambria"/>
              </a:rPr>
              <a:t>Repositório</a:t>
            </a:r>
          </a:p>
          <a:p>
            <a:pPr algn="ctr">
              <a:spcBef>
                <a:spcPts val="600"/>
              </a:spcBef>
            </a:pPr>
            <a:r>
              <a:rPr sz="1050" b="0" i="0">
                <a:solidFill>
                  <a:srgbClr val="33414F"/>
                </a:solidFill>
                <a:latin typeface="Calibri"/>
              </a:rPr>
              <a:t>Persiste e carrega a Raiz do Agregado.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A7585"/>
                </a:solidFill>
                <a:latin typeface="Calibri"/>
              </a:rPr>
              <a:t>Gerenciamento Ágil de Projetos</a:t>
            </a:r>
            <a:r>
              <a:rPr sz="900" b="0" i="0">
                <a:solidFill>
                  <a:srgbClr val="D7DEEA"/>
                </a:solidFill>
                <a:latin typeface="Calibri"/>
              </a:rPr>
              <a:t>   •   </a:t>
            </a:r>
            <a:r>
              <a:rPr sz="900" b="1" i="0">
                <a:solidFill>
                  <a:srgbClr val="1F5C99"/>
                </a:solidFill>
                <a:latin typeface="Calibri"/>
              </a:rPr>
              <a:t>DDD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48280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585"/>
                </a:solidFill>
                <a:latin typeface="Calibr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F5C99"/>
                </a:solidFill>
                <a:latin typeface="Calibri"/>
              </a:rPr>
              <a:t>APLICAÇÃO PRÁTICA • PROJETO SCRUNIC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B2330"/>
                </a:solidFill>
                <a:latin typeface="Cambria"/>
              </a:rPr>
              <a:t>Modelando o domínio do Scrunic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3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 i="0">
                <a:solidFill>
                  <a:srgbClr val="1B2330"/>
                </a:solidFill>
                <a:latin typeface="Cambria"/>
              </a:rPr>
              <a:t>Linguagem Ubíqua.  </a:t>
            </a:r>
            <a:r>
              <a:rPr sz="1300" b="0" i="0">
                <a:solidFill>
                  <a:srgbClr val="33414F"/>
                </a:solidFill>
                <a:latin typeface="Calibri"/>
              </a:rPr>
              <a:t> Classes e tabelas nomeadas Tarefa, Quadro, Coluna e Usuário, espelhando os termos do negócio.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1B2330"/>
                </a:solidFill>
                <a:latin typeface="Cambria"/>
              </a:rPr>
              <a:t>Entidade.  </a:t>
            </a:r>
            <a:r>
              <a:rPr sz="1300" b="0" i="0">
                <a:solidFill>
                  <a:srgbClr val="33414F"/>
                </a:solidFill>
                <a:latin typeface="Calibri"/>
              </a:rPr>
              <a:t> Tarefa (tem ID e ciclo de vida); atributos descritivos como prioridade se comportam como Value Objects.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1B2330"/>
                </a:solidFill>
                <a:latin typeface="Cambria"/>
              </a:rPr>
              <a:t>Agregado.  </a:t>
            </a:r>
            <a:r>
              <a:rPr sz="1300" b="0" i="0">
                <a:solidFill>
                  <a:srgbClr val="33414F"/>
                </a:solidFill>
                <a:latin typeface="Calibri"/>
              </a:rPr>
              <a:t> O Quadro é a Raiz de Agregação de suas colunas e cartões, com um Repositório responsável por persistir tudo de forma consistente no MySQL.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A7585"/>
                </a:solidFill>
                <a:latin typeface="Calibri"/>
              </a:rPr>
              <a:t>Gerenciamento Ágil de Projetos</a:t>
            </a:r>
            <a:r>
              <a:rPr sz="900" b="0" i="0">
                <a:solidFill>
                  <a:srgbClr val="D7DEEA"/>
                </a:solidFill>
                <a:latin typeface="Calibri"/>
              </a:rPr>
              <a:t>   •   </a:t>
            </a:r>
            <a:r>
              <a:rPr sz="900" b="1" i="0">
                <a:solidFill>
                  <a:srgbClr val="1F5C99"/>
                </a:solidFill>
                <a:latin typeface="Calibri"/>
              </a:rPr>
              <a:t>DDD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48280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585"/>
                </a:solidFill>
                <a:latin typeface="Calibr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F5C99"/>
                </a:solidFill>
                <a:latin typeface="Calibri"/>
              </a:rPr>
              <a:t>ANÁLISE CRÍTICA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B2330"/>
                </a:solidFill>
                <a:latin typeface="Cambria"/>
              </a:rPr>
              <a:t>Vantagens e limitações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3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 i="0">
                <a:solidFill>
                  <a:srgbClr val="1B2330"/>
                </a:solidFill>
                <a:latin typeface="Cambria"/>
              </a:rPr>
              <a:t>Vantagens.  </a:t>
            </a:r>
            <a:r>
              <a:rPr sz="1300" b="0" i="0">
                <a:solidFill>
                  <a:srgbClr val="33414F"/>
                </a:solidFill>
                <a:latin typeface="Calibri"/>
              </a:rPr>
              <a:t> Modelo fiel ao negócio, regras protegidas na Raiz de Agregação e comunicação melhorada pela Linguagem Ubíqua.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1B2330"/>
                </a:solidFill>
                <a:latin typeface="Cambria"/>
              </a:rPr>
              <a:t>Limitações.  </a:t>
            </a:r>
            <a:r>
              <a:rPr sz="1300" b="0" i="0">
                <a:solidFill>
                  <a:srgbClr val="33414F"/>
                </a:solidFill>
                <a:latin typeface="Calibri"/>
              </a:rPr>
              <a:t> Curva de aprendizado alta e overhead desproporcional para domínios simples, tipo CRUD.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1B2330"/>
                </a:solidFill>
                <a:latin typeface="Cambria"/>
              </a:rPr>
              <a:t>Comparado à modelagem anêmica.  </a:t>
            </a:r>
            <a:r>
              <a:rPr sz="1300" b="0" i="0">
                <a:solidFill>
                  <a:srgbClr val="33414F"/>
                </a:solidFill>
                <a:latin typeface="Calibri"/>
              </a:rPr>
              <a:t> O CRUD tradicional é mais rápido para cadastros simples, mas tende a espalhar regras de negócio por vários serviços conforme o sistema cresce.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A7585"/>
                </a:solidFill>
                <a:latin typeface="Calibri"/>
              </a:rPr>
              <a:t>Gerenciamento Ágil de Projetos</a:t>
            </a:r>
            <a:r>
              <a:rPr sz="900" b="0" i="0">
                <a:solidFill>
                  <a:srgbClr val="D7DEEA"/>
                </a:solidFill>
                <a:latin typeface="Calibri"/>
              </a:rPr>
              <a:t>   •   </a:t>
            </a:r>
            <a:r>
              <a:rPr sz="900" b="1" i="0">
                <a:solidFill>
                  <a:srgbClr val="1F5C99"/>
                </a:solidFill>
                <a:latin typeface="Calibri"/>
              </a:rPr>
              <a:t>DDD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48280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585"/>
                </a:solidFill>
                <a:latin typeface="Calibr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F5C99"/>
                </a:solidFill>
                <a:latin typeface="Calibri"/>
              </a:rPr>
              <a:t>INTEGRAÇÃO COM O ECOSSISTEMA ÁGIL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B2330"/>
                </a:solidFill>
                <a:latin typeface="Cambria"/>
              </a:rPr>
              <a:t>Do modelo de domínio ao backlog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3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 i="0">
                <a:solidFill>
                  <a:srgbClr val="1B2330"/>
                </a:solidFill>
                <a:latin typeface="Cambria"/>
              </a:rPr>
              <a:t>Bounded Context  </a:t>
            </a:r>
            <a:r>
              <a:rPr sz="1300" b="0" i="0">
                <a:solidFill>
                  <a:srgbClr val="33414F"/>
                </a:solidFill>
                <a:latin typeface="Calibri"/>
              </a:rPr>
              <a:t> → vira épico ou módulo do backlog.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1B2330"/>
                </a:solidFill>
                <a:latin typeface="Cambria"/>
              </a:rPr>
              <a:t>Agregado  </a:t>
            </a:r>
            <a:r>
              <a:rPr sz="1300" b="0" i="0">
                <a:solidFill>
                  <a:srgbClr val="33414F"/>
                </a:solidFill>
                <a:latin typeface="Calibri"/>
              </a:rPr>
              <a:t> → vira um conjunto coeso de histórias de usuário relacionadas.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1B2330"/>
                </a:solidFill>
                <a:latin typeface="Cambria"/>
              </a:rPr>
              <a:t>Invariante (regra de negócio)  </a:t>
            </a:r>
            <a:r>
              <a:rPr sz="1300" b="0" i="0">
                <a:solidFill>
                  <a:srgbClr val="33414F"/>
                </a:solidFill>
                <a:latin typeface="Calibri"/>
              </a:rPr>
              <a:t> → vira critério de aceite obrigatório da história.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1B2330"/>
                </a:solidFill>
                <a:latin typeface="Cambria"/>
              </a:rPr>
              <a:t>Exemplo no Scrunic:  </a:t>
            </a:r>
            <a:r>
              <a:rPr sz="1300" b="0" i="0">
                <a:solidFill>
                  <a:srgbClr val="33414F"/>
                </a:solidFill>
                <a:latin typeface="Calibri"/>
              </a:rPr>
              <a:t> "um Cartão não existe sem Coluna" virou a história "criar cartão dentro de uma coluna", com o critério de aceite direto da invariante do domínio.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A7585"/>
                </a:solidFill>
                <a:latin typeface="Calibri"/>
              </a:rPr>
              <a:t>Gerenciamento Ágil de Projetos</a:t>
            </a:r>
            <a:r>
              <a:rPr sz="900" b="0" i="0">
                <a:solidFill>
                  <a:srgbClr val="D7DEEA"/>
                </a:solidFill>
                <a:latin typeface="Calibri"/>
              </a:rPr>
              <a:t>   •   </a:t>
            </a:r>
            <a:r>
              <a:rPr sz="900" b="1" i="0">
                <a:solidFill>
                  <a:srgbClr val="1F5C99"/>
                </a:solidFill>
                <a:latin typeface="Calibri"/>
              </a:rPr>
              <a:t>DDD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48280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585"/>
                </a:solidFill>
                <a:latin typeface="Calibr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8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0020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4A86C5"/>
                </a:solidFill>
                <a:latin typeface="Calibri"/>
              </a:rPr>
              <a:t>Em resumo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82296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FFFFFF"/>
                </a:solidFill>
                <a:latin typeface="Cambria"/>
              </a:rPr>
              <a:t>O DDD mantém o modelo fiel à linguagem do negócio — e alimenta o backlog ágil com histórias já nascidas com vocabulário e regras validados.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DCE9F6"/>
                </a:solidFill>
                <a:latin typeface="Calibri"/>
              </a:rPr>
              <a:t>Obrigado!  •  ADS — Gerenciamento Ágil de Projetos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48280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585"/>
                </a:solidFill>
                <a:latin typeface="Calibr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