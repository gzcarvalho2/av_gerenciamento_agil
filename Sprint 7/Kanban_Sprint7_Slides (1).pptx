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A8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 • GERENCIAMENTO ÁGIL DE PROJETOS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Kanban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58368" y="2788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DCE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Visualizando o trabalho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3520440"/>
            <a:ext cx="2011680" cy="0"/>
          </a:xfrm>
          <a:prstGeom prst="line">
            <a:avLst/>
          </a:prstGeom>
          <a:noFill/>
          <a:ln w="31750">
            <a:solidFill>
              <a:srgbClr val="E0A5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160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Desenvolvimento de Sistemas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Henrique  •  Clara Catarina  •  Ruan Cabral  •  Lucas Nunes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FUNDAMENTAIS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três pilares do Kanban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77240" cy="777240"/>
          </a:xfrm>
          <a:prstGeom prst="ellipse">
            <a:avLst/>
          </a:prstGeom>
          <a:solidFill>
            <a:srgbClr val="1F5C9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2763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44475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Visualização do trabalho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54480" y="1810512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tarefa vira um cartão e o processo vira colunas. O time inteiro enxerga o que está pendente, em andamento e concluído.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542032"/>
            <a:ext cx="777240" cy="777240"/>
          </a:xfrm>
          <a:prstGeom prst="ellipse">
            <a:avLst/>
          </a:prstGeom>
          <a:solidFill>
            <a:srgbClr val="1F5C9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706624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52374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de WIP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554480" y="2889504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Limitar o trabalho em progresso por etapa evita sobrecarga, reduz troca de contexto e expõe gargalos rapidamente.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621024"/>
            <a:ext cx="777240" cy="777240"/>
          </a:xfrm>
          <a:prstGeom prst="ellipse">
            <a:avLst/>
          </a:prstGeom>
          <a:solidFill>
            <a:srgbClr val="1F5C9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785616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60273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contínuo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554480" y="3968496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'puxado': uma tarefa só avança quando há espaço na próxima etapa, criando um caminho suave e previsível.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Ágil de Projetos</a:t>
            </a:r>
            <a:pPr algn="l" indent="0" marL="0">
              <a:buNone/>
            </a:pPr>
            <a:r>
              <a:rPr lang="en-US" sz="9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algn="l" indent="0" marL="0">
              <a:buNone/>
            </a:pPr>
            <a:r>
              <a:rPr lang="en-US" sz="900" b="1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7680960" y="48280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FUNCIONAMENTO NA PRÁTICA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 quadro Kanban opera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591056" cy="2468880"/>
          </a:xfrm>
          <a:prstGeom prst="roundRect">
            <a:avLst>
              <a:gd name="adj" fmla="val 4598"/>
            </a:avLst>
          </a:prstGeom>
          <a:solidFill>
            <a:srgbClr val="F4F7FB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755648"/>
            <a:ext cx="585216" cy="585216"/>
          </a:xfrm>
          <a:prstGeom prst="ellipse">
            <a:avLst/>
          </a:prstGeom>
          <a:solidFill>
            <a:srgbClr val="1F5C99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556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487168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Fila priorizada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2999232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demandas entram numa fila ordenada por prioridade.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29968" y="182880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8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67128" y="1554480"/>
            <a:ext cx="1591056" cy="2468880"/>
          </a:xfrm>
          <a:prstGeom prst="roundRect">
            <a:avLst>
              <a:gd name="adj" fmla="val 4598"/>
            </a:avLst>
          </a:prstGeom>
          <a:solidFill>
            <a:srgbClr val="F4F7FB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70048" y="1755648"/>
            <a:ext cx="585216" cy="585216"/>
          </a:xfrm>
          <a:prstGeom prst="ellipse">
            <a:avLst/>
          </a:prstGeom>
          <a:solidFill>
            <a:srgbClr val="1F5C99"/>
          </a:solidFill>
          <a:ln/>
        </p:spPr>
      </p:sp>
      <p:sp>
        <p:nvSpPr>
          <p:cNvPr id="12" name="Text 10"/>
          <p:cNvSpPr/>
          <p:nvPr/>
        </p:nvSpPr>
        <p:spPr>
          <a:xfrm>
            <a:off x="2670048" y="17556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258568" y="2487168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Puxar tarefa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76856" y="2999232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capacidade livre, o time puxa a tarefa mais importante.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39896" y="182880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8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77056" y="1554480"/>
            <a:ext cx="1591056" cy="2468880"/>
          </a:xfrm>
          <a:prstGeom prst="roundRect">
            <a:avLst>
              <a:gd name="adj" fmla="val 4598"/>
            </a:avLst>
          </a:prstGeom>
          <a:solidFill>
            <a:srgbClr val="F4F7FB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79976" y="1755648"/>
            <a:ext cx="585216" cy="585216"/>
          </a:xfrm>
          <a:prstGeom prst="ellipse">
            <a:avLst/>
          </a:prstGeom>
          <a:solidFill>
            <a:srgbClr val="1F5C99"/>
          </a:solidFill>
          <a:ln/>
        </p:spPr>
      </p:sp>
      <p:sp>
        <p:nvSpPr>
          <p:cNvPr id="18" name="Text 16"/>
          <p:cNvSpPr/>
          <p:nvPr/>
        </p:nvSpPr>
        <p:spPr>
          <a:xfrm>
            <a:off x="4379976" y="17556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968496" y="2487168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Respeitar o WIP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86784" y="2999232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coluna está no limite, ninguém puxa nada novo.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49824" y="182880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8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86984" y="1554480"/>
            <a:ext cx="1591056" cy="2468880"/>
          </a:xfrm>
          <a:prstGeom prst="roundRect">
            <a:avLst>
              <a:gd name="adj" fmla="val 4598"/>
            </a:avLst>
          </a:prstGeom>
          <a:solidFill>
            <a:srgbClr val="F4F7FB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89904" y="1755648"/>
            <a:ext cx="585216" cy="585216"/>
          </a:xfrm>
          <a:prstGeom prst="ellipse">
            <a:avLst/>
          </a:prstGeom>
          <a:solidFill>
            <a:srgbClr val="1F5C99"/>
          </a:solidFill>
          <a:ln/>
        </p:spPr>
      </p:sp>
      <p:sp>
        <p:nvSpPr>
          <p:cNvPr id="24" name="Text 22"/>
          <p:cNvSpPr/>
          <p:nvPr/>
        </p:nvSpPr>
        <p:spPr>
          <a:xfrm>
            <a:off x="6089904" y="17556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678424" y="2487168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Destravar gargalos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96712" y="2999232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esforço foca em liberar a etapa travada, não em produzir mais.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59752" y="182880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8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296912" y="1554480"/>
            <a:ext cx="1591056" cy="2468880"/>
          </a:xfrm>
          <a:prstGeom prst="roundRect">
            <a:avLst>
              <a:gd name="adj" fmla="val 4598"/>
            </a:avLst>
          </a:prstGeom>
          <a:solidFill>
            <a:srgbClr val="F4F7FB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99832" y="1755648"/>
            <a:ext cx="585216" cy="585216"/>
          </a:xfrm>
          <a:prstGeom prst="ellipse">
            <a:avLst/>
          </a:prstGeom>
          <a:solidFill>
            <a:srgbClr val="1F5C99"/>
          </a:solidFill>
          <a:ln/>
        </p:spPr>
      </p:sp>
      <p:sp>
        <p:nvSpPr>
          <p:cNvPr id="30" name="Text 28"/>
          <p:cNvSpPr/>
          <p:nvPr/>
        </p:nvSpPr>
        <p:spPr>
          <a:xfrm>
            <a:off x="7799832" y="17556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388352" y="2487168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Concluir e liberar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06640" y="2999232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tarefa validada vai para 'Concluído' e o fluxo recomeça.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de ouro: terminar o que já foi começado antes de iniciar algo novo.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Ágil de Projetos</a:t>
            </a:r>
            <a:pPr algn="l" indent="0" marL="0">
              <a:buNone/>
            </a:pPr>
            <a:r>
              <a:rPr lang="en-US" sz="9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algn="l" indent="0" marL="0">
              <a:buNone/>
            </a:pPr>
            <a:r>
              <a:rPr lang="en-US" sz="900" b="1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680960" y="48280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PRÁTICA • PROJETO SCRUNIC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Simulação de fluxo: agendamento médico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664208" cy="502920"/>
          </a:xfrm>
          <a:prstGeom prst="rect">
            <a:avLst/>
          </a:prstGeom>
          <a:solidFill>
            <a:srgbClr val="1F5C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08760"/>
            <a:ext cx="1161288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Fazer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572768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664208" cy="23317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21408"/>
            <a:ext cx="148132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121408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de login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779776"/>
            <a:ext cx="148132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779776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pacientes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438144"/>
            <a:ext cx="148132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438144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médicos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76272" y="1508760"/>
            <a:ext cx="1664208" cy="502920"/>
          </a:xfrm>
          <a:prstGeom prst="rect">
            <a:avLst/>
          </a:prstGeom>
          <a:solidFill>
            <a:srgbClr val="1F5C99"/>
          </a:solidFill>
          <a:ln/>
        </p:spPr>
      </p:sp>
      <p:sp>
        <p:nvSpPr>
          <p:cNvPr id="15" name="Text 13"/>
          <p:cNvSpPr/>
          <p:nvPr/>
        </p:nvSpPr>
        <p:spPr>
          <a:xfrm>
            <a:off x="2176272" y="1508760"/>
            <a:ext cx="1161288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Desenv.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918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 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76272" y="2011680"/>
            <a:ext cx="1664208" cy="23317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7712" y="2121408"/>
            <a:ext cx="148132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40864" y="2121408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autenticação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67712" y="2779776"/>
            <a:ext cx="148132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40864" y="2779776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de agendamento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67712" y="3438144"/>
            <a:ext cx="148132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40864" y="3438144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consultas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95344" y="1508760"/>
            <a:ext cx="1664208" cy="502920"/>
          </a:xfrm>
          <a:prstGeom prst="rect">
            <a:avLst/>
          </a:prstGeom>
          <a:solidFill>
            <a:srgbClr val="1F5C99"/>
          </a:solidFill>
          <a:ln/>
        </p:spPr>
      </p:sp>
      <p:sp>
        <p:nvSpPr>
          <p:cNvPr id="25" name="Text 23"/>
          <p:cNvSpPr/>
          <p:nvPr/>
        </p:nvSpPr>
        <p:spPr>
          <a:xfrm>
            <a:off x="3895344" y="1508760"/>
            <a:ext cx="1161288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10912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 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95344" y="2011680"/>
            <a:ext cx="1664208" cy="23317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86784" y="2121408"/>
            <a:ext cx="148132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59936" y="2121408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consultas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986784" y="2779776"/>
            <a:ext cx="148132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59936" y="2779776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Especialidades médicas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14416" y="1508760"/>
            <a:ext cx="1664208" cy="502920"/>
          </a:xfrm>
          <a:prstGeom prst="rect">
            <a:avLst/>
          </a:prstGeom>
          <a:solidFill>
            <a:srgbClr val="1F5C99"/>
          </a:solidFill>
          <a:ln/>
        </p:spPr>
      </p:sp>
      <p:sp>
        <p:nvSpPr>
          <p:cNvPr id="33" name="Text 31"/>
          <p:cNvSpPr/>
          <p:nvPr/>
        </p:nvSpPr>
        <p:spPr>
          <a:xfrm>
            <a:off x="5614416" y="1508760"/>
            <a:ext cx="1161288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729984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 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14416" y="2011680"/>
            <a:ext cx="1664208" cy="23317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05856" y="2121408"/>
            <a:ext cx="148132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79008" y="2121408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Recuperação de senha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705856" y="2779776"/>
            <a:ext cx="148132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79008" y="2779776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33488" y="1508760"/>
            <a:ext cx="1664208" cy="502920"/>
          </a:xfrm>
          <a:prstGeom prst="rect">
            <a:avLst/>
          </a:prstGeom>
          <a:solidFill>
            <a:srgbClr val="1F5C99"/>
          </a:solidFill>
          <a:ln/>
        </p:spPr>
      </p:sp>
      <p:sp>
        <p:nvSpPr>
          <p:cNvPr id="41" name="Text 39"/>
          <p:cNvSpPr/>
          <p:nvPr/>
        </p:nvSpPr>
        <p:spPr>
          <a:xfrm>
            <a:off x="7333488" y="1508760"/>
            <a:ext cx="1664208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Concluído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333488" y="2011680"/>
            <a:ext cx="1664208" cy="23317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24928" y="2121408"/>
            <a:ext cx="148132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0" y="2121408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424928" y="2779776"/>
            <a:ext cx="148132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0" y="2779776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GitHub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424928" y="3438144"/>
            <a:ext cx="148132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98080" y="3438144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dev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A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limites de WIP evitam sobrecarga e mantêm o fluxo das entregas controlado.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Ágil de Projetos</a:t>
            </a:r>
            <a:pPr algn="l" indent="0" marL="0">
              <a:buNone/>
            </a:pPr>
            <a:r>
              <a:rPr lang="en-US" sz="9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algn="l" indent="0" marL="0">
              <a:buNone/>
            </a:pPr>
            <a:r>
              <a:rPr lang="en-US" sz="900" b="1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680960" y="48280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CRÍTICA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Vantagens e limitações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4F7FB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276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C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Vantagens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3232" y="210312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total do status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WIP reduzem sobrecarga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Gargalos ficam visíveis e tratáveis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Flexível: sem prazos ou papéis fixos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 contínua via métricas de fluxo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BF6EC"/>
          </a:solidFill>
          <a:ln w="12700">
            <a:solidFill>
              <a:srgbClr val="EBD9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6276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19472" y="210312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prazos fixos: previsão mais difícil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 estrutura para times iniciantes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fila infinita sem priorização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fortemente de disciplina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desatualizado perde o valor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Ágil de Projetos</a:t>
            </a:r>
            <a:pPr algn="l" indent="0" marL="0">
              <a:buNone/>
            </a:pPr>
            <a:r>
              <a:rPr lang="en-US" sz="9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algn="l" indent="0" marL="0">
              <a:buNone/>
            </a:pPr>
            <a:r>
              <a:rPr lang="en-US" sz="900" b="1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80960" y="48280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8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O ECOSSISTEMA ÁGIL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Kanban vs Scrum — e quando combinar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1B335C"/>
          </a:solidFill>
          <a:ln w="12700">
            <a:solidFill>
              <a:srgbClr val="2C4D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86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Kanban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3232" y="196596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C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contínuo, sem sprints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C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WIP por coluna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C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Mudanças a qualquer momento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C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demanda imprevisível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1B335C"/>
          </a:solidFill>
          <a:ln w="12700">
            <a:solidFill>
              <a:srgbClr val="2C4D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19472" y="196596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C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Iterações de tempo fixo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C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definido por sprint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C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Mudanças no próximo ciclo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C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escopo planejável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F5C99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70332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Scrumban no Scrunic:  </a:t>
            </a:r>
            <a:pPr indent="0" marL="0">
              <a:buNone/>
            </a:pPr>
            <a:r>
              <a:rPr lang="en-US" sz="1350" dirty="0">
                <a:solidFill>
                  <a:srgbClr val="DC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o planejamento e a cadência do Scrum, mas governa o quadro com limites de WIP do Kanban e uma faixa expressa para urgências de produção.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680960" y="48280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965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A8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resumo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23317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Kanban torna o trabalho visível, controla a carga e revela gargalos — e brilha ainda mais quando combinado com a estrutura do Scrum.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  •  ADS — Gerenciamento Ágil de Projetos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Kanban: visualizando o trabalho</dc:title>
  <dc:subject>PptxGenJS Presentation</dc:subject>
  <dc:creator>Gabriel, Clara, Ruan, Lucas</dc:creator>
  <cp:lastModifiedBy>Gabriel, Clara, Ruan, Lucas</cp:lastModifiedBy>
  <cp:revision>1</cp:revision>
  <dcterms:created xsi:type="dcterms:W3CDTF">2026-06-26T14:04:00Z</dcterms:created>
  <dcterms:modified xsi:type="dcterms:W3CDTF">2026-06-26T14:04:00Z</dcterms:modified>
</cp:coreProperties>
</file>