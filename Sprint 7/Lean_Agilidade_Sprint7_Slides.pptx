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8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4A86C5"/>
                </a:solidFill>
                <a:latin typeface="Calibri"/>
              </a:rPr>
              <a:t>TEMA 2 • GERENCIAMENTO ÁGIL DE PROJETOS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830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000" b="1" i="0">
                <a:solidFill>
                  <a:srgbClr val="FFFFFF"/>
                </a:solidFill>
                <a:latin typeface="Cambria"/>
              </a:rPr>
              <a:t>Lean e Agilidade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8892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DCE9F6"/>
                </a:solidFill>
                <a:latin typeface="Cambria"/>
              </a:rPr>
              <a:t>Maximizar valor, eliminar desperdício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474720"/>
            <a:ext cx="2011680" cy="19050"/>
          </a:xfrm>
          <a:prstGeom prst="rect">
            <a:avLst/>
          </a:prstGeom>
          <a:solidFill>
            <a:srgbClr val="4A8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DCE9F6"/>
                </a:solidFill>
                <a:latin typeface="Calibri"/>
              </a:rPr>
              <a:t>Análise e Desenvolvimento de Sistemas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A7585"/>
                </a:solidFill>
                <a:latin typeface="Calibri"/>
              </a:rPr>
              <a:t>Gabriel Henrique  •  Clara Catarina  •  Ruan Cabral  •  Lucas Nunes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F5C99"/>
                </a:solidFill>
                <a:latin typeface="Calibri"/>
              </a:rPr>
              <a:t>FUNDAMENTOS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2330"/>
                </a:solidFill>
                <a:latin typeface="Cambria"/>
              </a:rPr>
              <a:t>Princípios Lean aplicados ao software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1572768" cy="260604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5256" y="1783080"/>
            <a:ext cx="676656" cy="676656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liminar_desperdi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92" y="1918716"/>
            <a:ext cx="405384" cy="405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2596896"/>
            <a:ext cx="1389888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330"/>
                </a:solidFill>
                <a:latin typeface="Cambria"/>
              </a:rPr>
              <a:t>Eliminar desperdício</a:t>
            </a:r>
          </a:p>
          <a:p>
            <a:pPr algn="ctr">
              <a:spcBef>
                <a:spcPts val="600"/>
              </a:spcBef>
            </a:pPr>
            <a:r>
              <a:rPr sz="1050" b="0" i="0">
                <a:solidFill>
                  <a:srgbClr val="33414F"/>
                </a:solidFill>
                <a:latin typeface="Calibri"/>
              </a:rPr>
              <a:t>Cortar retrabalho, esperas e burocracia sem valor.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21408" y="1554480"/>
            <a:ext cx="1572768" cy="260604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69464" y="1783080"/>
            <a:ext cx="676656" cy="676656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mplificar_aprendiz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100" y="1918716"/>
            <a:ext cx="405384" cy="4053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212848" y="2596896"/>
            <a:ext cx="1389888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330"/>
                </a:solidFill>
                <a:latin typeface="Cambria"/>
              </a:rPr>
              <a:t>Amplificar aprendizado</a:t>
            </a:r>
          </a:p>
          <a:p>
            <a:pPr algn="ctr">
              <a:spcBef>
                <a:spcPts val="600"/>
              </a:spcBef>
            </a:pPr>
            <a:r>
              <a:rPr sz="1050" b="0" i="0">
                <a:solidFill>
                  <a:srgbClr val="33414F"/>
                </a:solidFill>
                <a:latin typeface="Calibri"/>
              </a:rPr>
              <a:t>Ciclos curtos com feedback constante.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85616" y="1554480"/>
            <a:ext cx="1572768" cy="260604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33672" y="1783080"/>
            <a:ext cx="676656" cy="676656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ecidir_tar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9308" y="1918716"/>
            <a:ext cx="405384" cy="4053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877056" y="2596896"/>
            <a:ext cx="1389888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330"/>
                </a:solidFill>
                <a:latin typeface="Cambria"/>
              </a:rPr>
              <a:t>Decidir tarde</a:t>
            </a:r>
          </a:p>
          <a:p>
            <a:pPr algn="ctr">
              <a:spcBef>
                <a:spcPts val="600"/>
              </a:spcBef>
            </a:pPr>
            <a:r>
              <a:rPr sz="1050" b="0" i="0">
                <a:solidFill>
                  <a:srgbClr val="33414F"/>
                </a:solidFill>
                <a:latin typeface="Calibri"/>
              </a:rPr>
              <a:t>Adiar decisões irreversíveis até haver informação suficiente.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9824" y="1554480"/>
            <a:ext cx="1572768" cy="260604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97880" y="1783080"/>
            <a:ext cx="676656" cy="676656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entregar_rapid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3516" y="1918716"/>
            <a:ext cx="405384" cy="4053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541264" y="2596896"/>
            <a:ext cx="1389888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330"/>
                </a:solidFill>
                <a:latin typeface="Cambria"/>
              </a:rPr>
              <a:t>Entregar rápido</a:t>
            </a:r>
          </a:p>
          <a:p>
            <a:pPr algn="ctr">
              <a:spcBef>
                <a:spcPts val="600"/>
              </a:spcBef>
            </a:pPr>
            <a:r>
              <a:rPr sz="1050" b="0" i="0">
                <a:solidFill>
                  <a:srgbClr val="33414F"/>
                </a:solidFill>
                <a:latin typeface="Calibri"/>
              </a:rPr>
              <a:t>Fluxo contínuo de pequenas entregas.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14032" y="1554480"/>
            <a:ext cx="1572768" cy="2606040"/>
          </a:xfrm>
          <a:prstGeom prst="roundRect">
            <a:avLst/>
          </a:prstGeom>
          <a:solidFill>
            <a:srgbClr val="F7FAFD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62088" y="1783080"/>
            <a:ext cx="676656" cy="676656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empoderar_equip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7724" y="1918716"/>
            <a:ext cx="405384" cy="4053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205472" y="2596896"/>
            <a:ext cx="1389888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330"/>
                </a:solidFill>
                <a:latin typeface="Cambria"/>
              </a:rPr>
              <a:t>Empoderar a equipe</a:t>
            </a:r>
          </a:p>
          <a:p>
            <a:pPr algn="ctr">
              <a:spcBef>
                <a:spcPts val="600"/>
              </a:spcBef>
            </a:pPr>
            <a:r>
              <a:rPr sz="1050" b="0" i="0">
                <a:solidFill>
                  <a:srgbClr val="33414F"/>
                </a:solidFill>
                <a:latin typeface="Calibri"/>
              </a:rPr>
              <a:t>Quem faz o trabalho sabe melhor como fazê-lo.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A7585"/>
                </a:solidFill>
                <a:latin typeface="Calibri"/>
              </a:rPr>
              <a:t>Gerenciamento Ágil de Projetos</a:t>
            </a:r>
            <a:r>
              <a:rPr sz="900" b="0" i="0">
                <a:solidFill>
                  <a:srgbClr val="D7DEEA"/>
                </a:solidFill>
                <a:latin typeface="Calibri"/>
              </a:rPr>
              <a:t>   •   </a:t>
            </a:r>
            <a:r>
              <a:rPr sz="900" b="1" i="0">
                <a:solidFill>
                  <a:srgbClr val="1F5C99"/>
                </a:solidFill>
                <a:latin typeface="Calibri"/>
              </a:rPr>
              <a:t>Lean e Agilidade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8280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585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F5C99"/>
                </a:solidFill>
                <a:latin typeface="Calibri"/>
              </a:rPr>
              <a:t>FUNDAMENTOS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2330"/>
                </a:solidFill>
                <a:latin typeface="Cambria"/>
              </a:rPr>
              <a:t>Do Lean ao Manifesto Ágil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1B2330"/>
                </a:solidFill>
                <a:latin typeface="Cambria"/>
              </a:rPr>
              <a:t>Eliminar desperdício  </a:t>
            </a:r>
            <a:r>
              <a:rPr sz="1300" b="0" i="0">
                <a:solidFill>
                  <a:srgbClr val="33414F"/>
                </a:solidFill>
                <a:latin typeface="Calibri"/>
              </a:rPr>
              <a:t> → "Software funcionando mais que documentação abrangente".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1B2330"/>
                </a:solidFill>
                <a:latin typeface="Cambria"/>
              </a:rPr>
              <a:t>Empoderar a equipe  </a:t>
            </a:r>
            <a:r>
              <a:rPr sz="1300" b="0" i="0">
                <a:solidFill>
                  <a:srgbClr val="33414F"/>
                </a:solidFill>
                <a:latin typeface="Calibri"/>
              </a:rPr>
              <a:t> → "Indivíduos e interações mais que processos e ferramentas".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1B2330"/>
                </a:solidFill>
                <a:latin typeface="Cambria"/>
              </a:rPr>
              <a:t>Decidir tarde / Entregar rápido  </a:t>
            </a:r>
            <a:r>
              <a:rPr sz="1300" b="0" i="0">
                <a:solidFill>
                  <a:srgbClr val="33414F"/>
                </a:solidFill>
                <a:latin typeface="Calibri"/>
              </a:rPr>
              <a:t> → "Resposta a mudanças mais que seguir um plano" e entregas frequentes de software funcionando.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1B2330"/>
                </a:solidFill>
                <a:latin typeface="Cambria"/>
              </a:rPr>
              <a:t>Construir com qualidade  </a:t>
            </a:r>
            <a:r>
              <a:rPr sz="1300" b="0" i="0">
                <a:solidFill>
                  <a:srgbClr val="33414F"/>
                </a:solidFill>
                <a:latin typeface="Calibri"/>
              </a:rPr>
              <a:t> → "Atenção contínua à excelência técnica e ao bom design".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A7585"/>
                </a:solidFill>
                <a:latin typeface="Calibri"/>
              </a:rPr>
              <a:t>Gerenciamento Ágil de Projetos</a:t>
            </a:r>
            <a:r>
              <a:rPr sz="900" b="0" i="0">
                <a:solidFill>
                  <a:srgbClr val="D7DEEA"/>
                </a:solidFill>
                <a:latin typeface="Calibri"/>
              </a:rPr>
              <a:t>   •   </a:t>
            </a:r>
            <a:r>
              <a:rPr sz="900" b="1" i="0">
                <a:solidFill>
                  <a:srgbClr val="1F5C99"/>
                </a:solidFill>
                <a:latin typeface="Calibri"/>
              </a:rPr>
              <a:t>Lean e Agilidade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48280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585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F5C99"/>
                </a:solidFill>
                <a:latin typeface="Calibri"/>
              </a:rPr>
              <a:t>APLICAÇÃO PRÁTICA • PROJETO SCRUNIC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2330"/>
                </a:solidFill>
                <a:latin typeface="Cambria"/>
              </a:rPr>
              <a:t>Os 7 desperdícios em um processo fictício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1B2330"/>
                </a:solidFill>
                <a:latin typeface="Cambria"/>
              </a:rPr>
              <a:t>Trabalho parcialmente feito.  </a:t>
            </a:r>
            <a:r>
              <a:rPr sz="1300" b="0" i="0">
                <a:solidFill>
                  <a:srgbClr val="33414F"/>
                </a:solidFill>
                <a:latin typeface="Calibri"/>
              </a:rPr>
              <a:t> Módulo de autenticação 80% pronto, parado semanas esperando outro módulo — resolvido fatiando o trabalho em entregas verticais menores.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1B2330"/>
                </a:solidFill>
                <a:latin typeface="Cambria"/>
              </a:rPr>
              <a:t>Funcionalidades extras.  </a:t>
            </a:r>
            <a:r>
              <a:rPr sz="1300" b="0" i="0">
                <a:solidFill>
                  <a:srgbClr val="33414F"/>
                </a:solidFill>
                <a:latin typeface="Calibri"/>
              </a:rPr>
              <a:t> Temas customizáveis que ninguém pediu — resolvido validando toda ideia contra o backlog priorizado antes de iniciar.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1B2330"/>
                </a:solidFill>
                <a:latin typeface="Cambria"/>
              </a:rPr>
              <a:t>Defeitos.  </a:t>
            </a:r>
            <a:r>
              <a:rPr sz="1300" b="0" i="0">
                <a:solidFill>
                  <a:srgbClr val="33414F"/>
                </a:solidFill>
                <a:latin typeface="Calibri"/>
              </a:rPr>
              <a:t> Bugs só descobertos pelo usuário final — resolvido com testes automatizados e integração contínua a cada commit.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A7585"/>
                </a:solidFill>
                <a:latin typeface="Calibri"/>
              </a:rPr>
              <a:t>Gerenciamento Ágil de Projetos</a:t>
            </a:r>
            <a:r>
              <a:rPr sz="900" b="0" i="0">
                <a:solidFill>
                  <a:srgbClr val="D7DEEA"/>
                </a:solidFill>
                <a:latin typeface="Calibri"/>
              </a:rPr>
              <a:t>   •   </a:t>
            </a:r>
            <a:r>
              <a:rPr sz="900" b="1" i="0">
                <a:solidFill>
                  <a:srgbClr val="1F5C99"/>
                </a:solidFill>
                <a:latin typeface="Calibri"/>
              </a:rPr>
              <a:t>Lean e Agilidade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48280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585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F5C99"/>
                </a:solidFill>
                <a:latin typeface="Calibri"/>
              </a:rPr>
              <a:t>ANÁLISE CRÍTICA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2330"/>
                </a:solidFill>
                <a:latin typeface="Cambria"/>
              </a:rPr>
              <a:t>Vantagens e limitações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1B2330"/>
                </a:solidFill>
                <a:latin typeface="Cambria"/>
              </a:rPr>
              <a:t>Vantagens.  </a:t>
            </a:r>
            <a:r>
              <a:rPr sz="1300" b="0" i="0">
                <a:solidFill>
                  <a:srgbClr val="33414F"/>
                </a:solidFill>
                <a:latin typeface="Calibri"/>
              </a:rPr>
              <a:t> Foco no que gera valor, entregas mais rápidas, equipe mais autônoma e visão de fluxo completo.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1B2330"/>
                </a:solidFill>
                <a:latin typeface="Cambria"/>
              </a:rPr>
              <a:t>Limitações.  </a:t>
            </a:r>
            <a:r>
              <a:rPr sz="1300" b="0" i="0">
                <a:solidFill>
                  <a:srgbClr val="33414F"/>
                </a:solidFill>
                <a:latin typeface="Calibri"/>
              </a:rPr>
              <a:t> Princípios abstratos, não prescreve cerimônias e exige maturidade da equipe para não virar otimização prematura.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1B2330"/>
                </a:solidFill>
                <a:latin typeface="Cambria"/>
              </a:rPr>
              <a:t>Comparado ao Scrum.  </a:t>
            </a:r>
            <a:r>
              <a:rPr sz="1300" b="0" i="0">
                <a:solidFill>
                  <a:srgbClr val="33414F"/>
                </a:solidFill>
                <a:latin typeface="Calibri"/>
              </a:rPr>
              <a:t> O Lean fornece a mentalidade de eliminar desperdício; o Scrum fornece a estrutura de sprints e papéis que a coloca em prática.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A7585"/>
                </a:solidFill>
                <a:latin typeface="Calibri"/>
              </a:rPr>
              <a:t>Gerenciamento Ágil de Projetos</a:t>
            </a:r>
            <a:r>
              <a:rPr sz="900" b="0" i="0">
                <a:solidFill>
                  <a:srgbClr val="D7DEEA"/>
                </a:solidFill>
                <a:latin typeface="Calibri"/>
              </a:rPr>
              <a:t>   •   </a:t>
            </a:r>
            <a:r>
              <a:rPr sz="900" b="1" i="0">
                <a:solidFill>
                  <a:srgbClr val="1F5C99"/>
                </a:solidFill>
                <a:latin typeface="Calibri"/>
              </a:rPr>
              <a:t>Lean e Agilidade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48280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585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F5C99"/>
                </a:solidFill>
                <a:latin typeface="Calibri"/>
              </a:rPr>
              <a:t>INTEGRAÇÃO COM O ECOSSISTEMA ÁGIL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B2330"/>
                </a:solidFill>
                <a:latin typeface="Cambria"/>
              </a:rPr>
              <a:t>Como o Lean se manifesta no Scrum e no Kanban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1B2330"/>
                </a:solidFill>
                <a:latin typeface="Cambria"/>
              </a:rPr>
              <a:t>Decidir tarde  </a:t>
            </a:r>
            <a:r>
              <a:rPr sz="1300" b="0" i="0">
                <a:solidFill>
                  <a:srgbClr val="33414F"/>
                </a:solidFill>
                <a:latin typeface="Calibri"/>
              </a:rPr>
              <a:t> → no Kanban, tarefas só avançam quando há capacidade (sistema puxado); no Scrum, o backlog só é detalhado perto do sprint.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1B2330"/>
                </a:solidFill>
                <a:latin typeface="Cambria"/>
              </a:rPr>
              <a:t>Amplificar aprendizado  </a:t>
            </a:r>
            <a:r>
              <a:rPr sz="1300" b="0" i="0">
                <a:solidFill>
                  <a:srgbClr val="33414F"/>
                </a:solidFill>
                <a:latin typeface="Calibri"/>
              </a:rPr>
              <a:t> → Retrospective (Scrum) e métricas de fluxo como lead time e cycle time (Kanban).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1B2330"/>
                </a:solidFill>
                <a:latin typeface="Cambria"/>
              </a:rPr>
              <a:t>Otimizar o todo  </a:t>
            </a:r>
            <a:r>
              <a:rPr sz="1300" b="0" i="0">
                <a:solidFill>
                  <a:srgbClr val="33414F"/>
                </a:solidFill>
                <a:latin typeface="Calibri"/>
              </a:rPr>
              <a:t> → velocity e burndown olham o incremento completo; limites de WIP olham o quadro inteiro, não uma coluna isolada.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A7585"/>
                </a:solidFill>
                <a:latin typeface="Calibri"/>
              </a:rPr>
              <a:t>Gerenciamento Ágil de Projetos</a:t>
            </a:r>
            <a:r>
              <a:rPr sz="900" b="0" i="0">
                <a:solidFill>
                  <a:srgbClr val="D7DEEA"/>
                </a:solidFill>
                <a:latin typeface="Calibri"/>
              </a:rPr>
              <a:t>   •   </a:t>
            </a:r>
            <a:r>
              <a:rPr sz="900" b="1" i="0">
                <a:solidFill>
                  <a:srgbClr val="1F5C99"/>
                </a:solidFill>
                <a:latin typeface="Calibri"/>
              </a:rPr>
              <a:t>Lean e Agilidade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48280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585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8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002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4A86C5"/>
                </a:solidFill>
                <a:latin typeface="Calibri"/>
              </a:rPr>
              <a:t>Em resumo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82296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FFFFFF"/>
                </a:solidFill>
                <a:latin typeface="Cambria"/>
              </a:rPr>
              <a:t>O Lean dá o porquê — eliminar desperdício e maximizar valor — e Scrum e Kanban dão o como, cada um com sua própria cadência.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DCE9F6"/>
                </a:solidFill>
                <a:latin typeface="Calibri"/>
              </a:rPr>
              <a:t>Obrigado!  •  ADS — Gerenciamento Ágil de Projetos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48280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A7585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